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78" r:id="rId2"/>
    <p:sldId id="258" r:id="rId3"/>
    <p:sldId id="295" r:id="rId4"/>
    <p:sldId id="296" r:id="rId5"/>
    <p:sldId id="262" r:id="rId6"/>
    <p:sldId id="263" r:id="rId7"/>
    <p:sldId id="280" r:id="rId8"/>
    <p:sldId id="267" r:id="rId9"/>
    <p:sldId id="265" r:id="rId10"/>
    <p:sldId id="286" r:id="rId11"/>
    <p:sldId id="266" r:id="rId12"/>
    <p:sldId id="297" r:id="rId13"/>
    <p:sldId id="279" r:id="rId14"/>
    <p:sldId id="269" r:id="rId15"/>
    <p:sldId id="298" r:id="rId16"/>
    <p:sldId id="281" r:id="rId17"/>
    <p:sldId id="300" r:id="rId18"/>
    <p:sldId id="273" r:id="rId19"/>
    <p:sldId id="301" r:id="rId20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244" autoAdjust="0"/>
    <p:restoredTop sz="95659" autoAdjust="0"/>
  </p:normalViewPr>
  <p:slideViewPr>
    <p:cSldViewPr snapToGrid="0">
      <p:cViewPr varScale="1">
        <p:scale>
          <a:sx n="102" d="100"/>
          <a:sy n="102" d="100"/>
        </p:scale>
        <p:origin x="4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8CD59D-C72C-4429-9A71-6FCC49E298A9}" type="datetimeFigureOut">
              <a:rPr lang="en-GB" smtClean="0"/>
              <a:t>09/07/2026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B62B7A-5FB3-4661-BC56-8B2E0B8DEF6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7167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0138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79986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3B652-0076-9815-169F-7177912DE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155288-A28D-2469-DC43-64E23BAFF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2027E4-A716-2D82-1D4D-87B2CAB0F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AA8F95-A35C-33F1-5A64-ED2FD12560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45593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7C386-4E21-31F2-2767-EAB2A975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9C6A95-FBAC-21F5-F815-01CF3EE739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9AFE8-304E-1EA6-E02F-27FB673DE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FF95D-EB9C-CC13-C3DA-8356E570D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27208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81984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714996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36404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27537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1664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97699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6415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D073-15F8-789C-0FC4-F73958996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3804DD-CA48-4A2F-52DB-023F7855B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E5B255-B8C9-1411-60BF-5B7C0E0EEB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2CFCE-5A7B-F624-43E2-92A36CF040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4F7D1-CF71-4D4E-981F-5C84D3B3463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2341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8948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5437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0479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1F01CD-DBBF-2F55-4092-51AC66BAA7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03CEF-38D0-9AE5-0034-0AD08FE46A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330B6-5424-B47A-4525-3C8654A08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CE9FB0-6E2B-521F-D00C-FBE55C3E1F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463696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8059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AD13-9789-CEDC-2CA2-6052DA69C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26A877-38F9-34E5-E364-63876DE8E6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74B7CD-9BAB-1627-58B7-2119BF43D6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9D961D-35D4-5CD5-FFA6-99E6800E8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2B62B7A-5FB3-4661-BC56-8B2E0B8DEF68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98040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5EE6B-BB0E-5B50-1B09-466F61DD79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9FDFFD-E6EB-4C7A-7679-567730369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42E866-398B-BD12-E2F8-6C885E34E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CB713-4A24-43F5-A14E-A417EDF872BC}" type="datetime1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AA9C1-635F-14A2-B543-C45DA39AB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2A2BF-74F5-1373-DE75-A5FD468DE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844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0EAB2-4152-EB6A-7CD8-F85BEE1DDF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4BDD71-FEBD-D7C4-277F-55B408161B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452D5-D2E8-BA30-2536-91CA07403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ABCFB-FC71-4F45-9B0D-C0EE93A00692}" type="datetime1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F3737C-0BC3-9EE8-CB3A-CE23271F2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3FECA9-6ADA-4374-D31F-50DD14131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8410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5D217-3EAA-FF4B-5B99-7FBE88F16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6249A6-1DF6-1221-B011-6E35F0E99C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BAAAA-0AC3-7D8F-62E4-4B7C012CF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807616-1B22-416A-AFD6-308A8EE77281}" type="datetime1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8B80E-A0A5-7D49-56B3-A4A76000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8317B-B08A-C68D-8502-1D8745943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1297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33581-6456-1F62-7EE1-553ECF261C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9D633-AA2C-57B8-1224-B0296FE8D34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1A4016-8527-690F-3E0B-4A08B68D4B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70EE16-C047-065D-AD9F-9436886E66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85245C-8091-4BEC-8D8C-56861B4F4E25}" type="datetime1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8B6C1B-0E2A-1C85-65CC-9D3F97C34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CB33DC-F8D6-695A-912E-29AFF2C15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9490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6E4D9-5280-0D92-08D5-D396C0E74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258BC-D037-4DDF-0EC4-37522192C4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31A36C-5FAC-A309-8FD2-E3E62BAF2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97C086-1104-6528-7889-1F247BAE0F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DCE7A3-925B-7E78-70D2-336F418A04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CB4D54-9362-D622-ECE8-58CB142D8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4207DD-4B84-4424-956E-534ED988B1E3}" type="datetime1">
              <a:rPr lang="en-GB" smtClean="0"/>
              <a:t>09/07/2026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7763C4-2E27-A9F7-BDE8-7EB50ED5F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DF6645-0CC8-98DF-BE38-362BACEC5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1413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ED04E-450B-6B71-C20F-FF24AB951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DBD3C-37FF-DFB1-CB53-59793CD2A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EF34A-8679-4C75-A25E-5BEFDE4DAA63}" type="datetime1">
              <a:rPr lang="en-GB" smtClean="0"/>
              <a:t>09/07/2026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32BD24-0ACE-0BF2-04AC-550F22E1E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AE01A-F7EC-6F8E-386B-79BE2B430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8066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48AA69-F141-E2FD-48F8-DC448EB3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08333-D06F-49D1-8F57-9F40E6AF28F5}" type="datetime1">
              <a:rPr lang="en-GB" smtClean="0"/>
              <a:t>09/07/2026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5C5BF4-61E1-D06E-5461-0143EA1A6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52C0F-9A46-B416-458B-58F7392CE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8861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6F3E4-CB81-919E-A302-7961F922E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92606-394E-DD2A-776B-4A95870C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CAA185-F36B-F16D-644F-AC67A54739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1C19D-95B1-E02B-DC90-A2514AD71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A180-F2C7-4BF6-8D40-A5AEF060DD63}" type="datetime1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1DF183-EE57-3CE0-9CB3-2FD1404E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E133F-5A57-1CCF-10BA-CA398CE5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2926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2BE55-AE69-3C37-22A2-131CB097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9DB92-CAB6-4962-6254-E39F769C51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DAE59-99FC-D684-B6B0-C5E1449BA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003CCF-147F-83EC-5A3F-A66558EBB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6568E3-CC5F-406A-AC5B-9CB6B36C0673}" type="datetime1">
              <a:rPr lang="en-GB" smtClean="0"/>
              <a:t>09/07/2026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ABE67E-9F32-24C0-2B44-76B4A6729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F9A4C9-ACFF-982D-5D78-01E210EE1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9593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9C40E-B288-1FAE-C2DF-7E2B15DE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AB2C4-A053-3B8C-4FA8-85E212BE3D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BCF7F-64F8-20CD-AD16-E43CAEBF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F3F9A-08C1-4F29-8111-00C4D89F4B7D}" type="datetime1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03E20-5F3D-95DD-7F0B-157E29B5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F951E8-6748-B4DA-D215-5AA3F2DB7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1874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7511E82-BF2C-7F0F-2CD6-92608406C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11DF0-BF42-7F05-6C61-1BF4F11C64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A6498A-BF38-18D0-E4FB-B34410984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D18B53-879D-4B90-98A2-E14D9157B2F9}" type="datetime1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C5488-7B77-0F0F-3DDF-4AAA93162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A3BA8F-CC03-1CAB-E1B8-B8B7C9844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2312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BE216D-C9A0-B7BC-CD1D-CE7DF2AE2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905AF6-D9B1-95E2-BF30-E7C8ED59A9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08235B-3E91-0927-8277-3A565D1E1B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A0D51E-2FAB-4B4E-BBD3-653FB4270F2D}" type="datetime1">
              <a:rPr lang="en-GB" smtClean="0"/>
              <a:t>09/07/2026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A7660-1902-4E12-20C5-728D07BD42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2A6737-2175-1A01-6135-1A9931253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F573B9-05BE-4DAE-AB8B-8A03A70250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611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BAD142-86C1-099A-B9DA-F01743CE7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655FC37-DF76-5F38-DAAC-AE3B6EF3AA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noProof="0" dirty="0">
                <a:solidFill>
                  <a:srgbClr val="4472C4"/>
                </a:solidFill>
              </a:rPr>
              <a:t>Truck Platooning</a:t>
            </a:r>
            <a:endParaRPr lang="en-US" noProof="0" dirty="0">
              <a:solidFill>
                <a:srgbClr val="4472C4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E5D3B5-0E72-35F4-EB12-61DE28697637}"/>
              </a:ext>
            </a:extLst>
          </p:cNvPr>
          <p:cNvSpPr txBox="1"/>
          <p:nvPr/>
        </p:nvSpPr>
        <p:spPr>
          <a:xfrm>
            <a:off x="4394124" y="3507274"/>
            <a:ext cx="3403752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2000" noProof="0" dirty="0">
                <a:solidFill>
                  <a:srgbClr val="646E78"/>
                </a:solidFill>
                <a:latin typeface="Arial"/>
              </a:rPr>
              <a:t>Autonomous Systems Lab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20A5AF-11E3-573C-15BF-68511EB36BA3}"/>
              </a:ext>
            </a:extLst>
          </p:cNvPr>
          <p:cNvSpPr txBox="1"/>
          <p:nvPr/>
        </p:nvSpPr>
        <p:spPr>
          <a:xfrm>
            <a:off x="1447441" y="4407277"/>
            <a:ext cx="2634054" cy="12516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sz="1800" b="1" noProof="0" dirty="0">
                <a:solidFill>
                  <a:srgbClr val="4472C4"/>
                </a:solidFill>
                <a:latin typeface="Arial"/>
              </a:rPr>
              <a:t>Group members</a:t>
            </a:r>
          </a:p>
          <a:p>
            <a:pPr>
              <a:spcAft>
                <a:spcPts val="200"/>
              </a:spcAft>
            </a:pPr>
            <a:r>
              <a:rPr lang="en-US" sz="1800" noProof="0" dirty="0">
                <a:solidFill>
                  <a:srgbClr val="282828"/>
                </a:solidFill>
                <a:latin typeface="Arial"/>
              </a:rPr>
              <a:t>Andrey Sysoev</a:t>
            </a:r>
          </a:p>
          <a:p>
            <a:pPr>
              <a:spcAft>
                <a:spcPts val="200"/>
              </a:spcAft>
            </a:pPr>
            <a:r>
              <a:rPr lang="en-US" sz="1800" noProof="0" dirty="0">
                <a:solidFill>
                  <a:srgbClr val="282828"/>
                </a:solidFill>
                <a:latin typeface="Arial"/>
              </a:rPr>
              <a:t>Sadim Rahman Badhan</a:t>
            </a:r>
          </a:p>
          <a:p>
            <a:pPr>
              <a:spcAft>
                <a:spcPts val="200"/>
              </a:spcAft>
            </a:pPr>
            <a:r>
              <a:rPr lang="en-US" sz="1800" noProof="0" dirty="0">
                <a:solidFill>
                  <a:srgbClr val="282828"/>
                </a:solidFill>
                <a:latin typeface="Arial"/>
              </a:rPr>
              <a:t>Daria </a:t>
            </a:r>
            <a:r>
              <a:rPr lang="en-US" sz="1800" noProof="0" dirty="0" err="1">
                <a:solidFill>
                  <a:srgbClr val="282828"/>
                </a:solidFill>
                <a:latin typeface="Arial"/>
              </a:rPr>
              <a:t>Shushkova</a:t>
            </a:r>
            <a:endParaRPr lang="en-US" sz="1800" noProof="0" dirty="0">
              <a:solidFill>
                <a:srgbClr val="282828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134490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86A2F-5FD1-829A-B895-1F05593CF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248" y="694502"/>
            <a:ext cx="3429000" cy="676656"/>
          </a:xfrm>
        </p:spPr>
        <p:txBody>
          <a:bodyPr anchor="b"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noProof="0" dirty="0">
                <a:solidFill>
                  <a:srgbClr val="0070C0"/>
                </a:solidFill>
              </a:rPr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A98524-71B1-7938-E4AC-CDA8AFE359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248" y="1960566"/>
            <a:ext cx="3734899" cy="3108990"/>
          </a:xfrm>
        </p:spPr>
        <p:txBody>
          <a:bodyPr anchor="t">
            <a:noAutofit/>
          </a:bodyPr>
          <a:lstStyle/>
          <a:p>
            <a:r>
              <a:rPr lang="en-US" sz="2400" b="1" noProof="0" dirty="0"/>
              <a:t>Efficiency: </a:t>
            </a:r>
            <a:r>
              <a:rPr lang="en-US" sz="2400" noProof="0" dirty="0"/>
              <a:t>reduce fuel consumption</a:t>
            </a:r>
          </a:p>
          <a:p>
            <a:pPr>
              <a:spcBef>
                <a:spcPts val="1600"/>
              </a:spcBef>
            </a:pPr>
            <a:r>
              <a:rPr lang="en-US" sz="2400" b="1" noProof="0" dirty="0"/>
              <a:t>Road capacity: </a:t>
            </a:r>
            <a:r>
              <a:rPr lang="en-US" sz="2400" noProof="0" dirty="0"/>
              <a:t>use road space more efficiently</a:t>
            </a:r>
          </a:p>
          <a:p>
            <a:pPr>
              <a:spcBef>
                <a:spcPts val="1600"/>
              </a:spcBef>
            </a:pPr>
            <a:r>
              <a:rPr lang="en-US" sz="2400" b="1" noProof="0" dirty="0"/>
              <a:t>Safety: </a:t>
            </a:r>
            <a:r>
              <a:rPr lang="en-US" sz="2400" noProof="0" dirty="0"/>
              <a:t>reduce human-error accidents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2E83C3-B742-C51E-E542-64D61FAA1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2</a:t>
            </a:fld>
            <a:endParaRPr lang="en-US" noProof="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1AFAF43-5588-9272-E738-5812DEE53BD3}"/>
              </a:ext>
            </a:extLst>
          </p:cNvPr>
          <p:cNvSpPr txBox="1">
            <a:spLocks/>
          </p:cNvSpPr>
          <p:nvPr/>
        </p:nvSpPr>
        <p:spPr>
          <a:xfrm>
            <a:off x="8390603" y="3429000"/>
            <a:ext cx="3200675" cy="29646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CE80357-020D-624E-698A-CE4393EC41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289"/>
          <a:stretch>
            <a:fillRect/>
          </a:stretch>
        </p:blipFill>
        <p:spPr>
          <a:xfrm>
            <a:off x="4247147" y="1232577"/>
            <a:ext cx="7599586" cy="400398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00BFB30-DC6B-FB86-8436-D257596BEA73}"/>
              </a:ext>
            </a:extLst>
          </p:cNvPr>
          <p:cNvSpPr txBox="1">
            <a:spLocks/>
          </p:cNvSpPr>
          <p:nvPr/>
        </p:nvSpPr>
        <p:spPr>
          <a:xfrm>
            <a:off x="8610600" y="5399416"/>
            <a:ext cx="2379342" cy="397042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noProof="0" dirty="0"/>
              <a:t>www.peloton-tech.com</a:t>
            </a:r>
          </a:p>
        </p:txBody>
      </p:sp>
    </p:spTree>
    <p:extLst>
      <p:ext uri="{BB962C8B-B14F-4D97-AF65-F5344CB8AC3E}">
        <p14:creationId xmlns:p14="http://schemas.microsoft.com/office/powerpoint/2010/main" val="1233841517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9897F-A312-4D2B-0254-3E0BF58B5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A4C36-6CA4-25FA-6931-94CD343AA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0019" y="333525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rgbClr val="4472C4"/>
                </a:solidFill>
              </a:rPr>
              <a:t>Scenarios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57703C-5B2F-D33F-E989-96336ACCA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3</a:t>
            </a:fld>
            <a:endParaRPr lang="en-US" noProof="0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FFC8627-E80F-CDA2-9C4E-BA8AD64B4D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5496" y="494651"/>
            <a:ext cx="8266485" cy="5260490"/>
          </a:xfr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14A8EE-8371-9B32-0275-FB351B4BC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206141"/>
              </p:ext>
            </p:extLst>
          </p:nvPr>
        </p:nvGraphicFramePr>
        <p:xfrm>
          <a:off x="300019" y="2075613"/>
          <a:ext cx="3120913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656">
                  <a:extLst>
                    <a:ext uri="{9D8B030D-6E8A-4147-A177-3AD203B41FA5}">
                      <a16:colId xmlns:a16="http://schemas.microsoft.com/office/drawing/2014/main" val="3414301206"/>
                    </a:ext>
                  </a:extLst>
                </a:gridCol>
                <a:gridCol w="2608257">
                  <a:extLst>
                    <a:ext uri="{9D8B030D-6E8A-4147-A177-3AD203B41FA5}">
                      <a16:colId xmlns:a16="http://schemas.microsoft.com/office/drawing/2014/main" val="18032908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ID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noProof="0" dirty="0">
                          <a:effectLst/>
                        </a:rPr>
                        <a:t>Scenario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530363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effectLst/>
                        </a:rPr>
                        <a:t>S1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effectLst/>
                        </a:rPr>
                        <a:t>Platoon Engaging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6405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effectLst/>
                        </a:rPr>
                        <a:t>S2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effectLst/>
                        </a:rPr>
                        <a:t>Platooning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73145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effectLst/>
                        </a:rPr>
                        <a:t>S3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noProof="0" dirty="0">
                          <a:effectLst/>
                        </a:rPr>
                        <a:t>Communication Failure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209508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8383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DEC35-A99A-D9A4-461B-16227DA87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48FCC-3C2F-1808-A02C-77CAC4FBC3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>
                <a:solidFill>
                  <a:srgbClr val="0070C0"/>
                </a:solidFill>
              </a:rPr>
              <a:t>Functional Requirements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CB27FD-4315-37B3-EE65-DEEBDBEE5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4</a:t>
            </a:fld>
            <a:endParaRPr lang="en-US" noProof="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D5633CA-9908-2E95-DC1B-38CBC71D2F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1" t="667"/>
          <a:stretch>
            <a:fillRect/>
          </a:stretch>
        </p:blipFill>
        <p:spPr>
          <a:xfrm>
            <a:off x="2821146" y="3578547"/>
            <a:ext cx="4269575" cy="29143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C447E9-2F2B-8697-52AB-AE36006BB7D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3942" y="1456083"/>
            <a:ext cx="4269575" cy="2908648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904AE6-C958-2220-3FB1-15436BD3A4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513" y="1240759"/>
            <a:ext cx="7048174" cy="3123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703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E4CE0-3B0E-6691-4DAD-97FE495AE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5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9D26DC-BAD6-1C48-3D49-7076A63DAB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479"/>
          <a:stretch>
            <a:fillRect/>
          </a:stretch>
        </p:blipFill>
        <p:spPr>
          <a:xfrm>
            <a:off x="4195423" y="153329"/>
            <a:ext cx="6733770" cy="638558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B134D66-1FE3-A3C3-3D62-68629C5D4C1A}"/>
              </a:ext>
            </a:extLst>
          </p:cNvPr>
          <p:cNvSpPr txBox="1">
            <a:spLocks/>
          </p:cNvSpPr>
          <p:nvPr/>
        </p:nvSpPr>
        <p:spPr>
          <a:xfrm>
            <a:off x="98476" y="319088"/>
            <a:ext cx="419542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Platoon Engaging</a:t>
            </a:r>
          </a:p>
        </p:txBody>
      </p:sp>
    </p:spTree>
    <p:extLst>
      <p:ext uri="{BB962C8B-B14F-4D97-AF65-F5344CB8AC3E}">
        <p14:creationId xmlns:p14="http://schemas.microsoft.com/office/powerpoint/2010/main" val="1787577796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C7174-ED69-6254-AB03-7825F72182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6</a:t>
            </a:fld>
            <a:endParaRPr lang="en-US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47390B-92E9-E6D0-BA69-5CC6102BF1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64"/>
          <a:stretch>
            <a:fillRect/>
          </a:stretch>
        </p:blipFill>
        <p:spPr>
          <a:xfrm>
            <a:off x="4159933" y="248936"/>
            <a:ext cx="6728461" cy="6360128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1FCA2F8-002B-32C9-0E49-C599B913AFA1}"/>
              </a:ext>
            </a:extLst>
          </p:cNvPr>
          <p:cNvSpPr txBox="1">
            <a:spLocks/>
          </p:cNvSpPr>
          <p:nvPr/>
        </p:nvSpPr>
        <p:spPr>
          <a:xfrm>
            <a:off x="112544" y="351693"/>
            <a:ext cx="4164035" cy="104100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noProof="0" dirty="0">
                <a:solidFill>
                  <a:srgbClr val="0070C0"/>
                </a:solidFill>
              </a:rPr>
              <a:t>Platooning</a:t>
            </a:r>
          </a:p>
        </p:txBody>
      </p:sp>
    </p:spTree>
    <p:extLst>
      <p:ext uri="{BB962C8B-B14F-4D97-AF65-F5344CB8AC3E}">
        <p14:creationId xmlns:p14="http://schemas.microsoft.com/office/powerpoint/2010/main" val="166897295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D5E7A-4392-03D2-BD53-6E72A3E3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7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B316099-D047-5691-8C96-3B0005DAF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324"/>
          <a:stretch>
            <a:fillRect/>
          </a:stretch>
        </p:blipFill>
        <p:spPr>
          <a:xfrm>
            <a:off x="6860220" y="217076"/>
            <a:ext cx="3789023" cy="61832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D812B51-8C77-6696-5593-018A9C2E3407}"/>
              </a:ext>
            </a:extLst>
          </p:cNvPr>
          <p:cNvSpPr txBox="1">
            <a:spLocks/>
          </p:cNvSpPr>
          <p:nvPr/>
        </p:nvSpPr>
        <p:spPr>
          <a:xfrm>
            <a:off x="185681" y="755186"/>
            <a:ext cx="472394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Communication failure</a:t>
            </a:r>
          </a:p>
        </p:txBody>
      </p:sp>
    </p:spTree>
    <p:extLst>
      <p:ext uri="{BB962C8B-B14F-4D97-AF65-F5344CB8AC3E}">
        <p14:creationId xmlns:p14="http://schemas.microsoft.com/office/powerpoint/2010/main" val="73420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600BEF-28DF-A8F2-694A-D0F6CF523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8</a:t>
            </a:fld>
            <a:endParaRPr lang="en-US" noProof="0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8BA06B7-029D-5E47-BF59-42A8B48C81A8}"/>
              </a:ext>
            </a:extLst>
          </p:cNvPr>
          <p:cNvSpPr txBox="1">
            <a:spLocks/>
          </p:cNvSpPr>
          <p:nvPr/>
        </p:nvSpPr>
        <p:spPr>
          <a:xfrm>
            <a:off x="147223" y="278362"/>
            <a:ext cx="57477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Truck Engaging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A7EDEA7-BBC8-C9AE-FC55-68E6BB577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223" y="1980334"/>
            <a:ext cx="11893037" cy="3563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437497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C08BF-695F-B370-7D1D-57E8FB74B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249" y="136525"/>
            <a:ext cx="5783874" cy="1325563"/>
          </a:xfrm>
        </p:spPr>
        <p:txBody>
          <a:bodyPr>
            <a:normAutofit/>
          </a:bodyPr>
          <a:lstStyle/>
          <a:p>
            <a:r>
              <a:rPr lang="en-US" noProof="0" dirty="0">
                <a:solidFill>
                  <a:srgbClr val="0070C0"/>
                </a:solidFill>
              </a:rPr>
              <a:t>Platooning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E5B32-7F0D-4467-E53D-02057473D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9</a:t>
            </a:fld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809C9FA-BE00-0094-18B0-07BE274DB9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37" y="1823240"/>
            <a:ext cx="11635926" cy="3442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22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073DF-2A49-4F19-314D-F1ECF1780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99" y="145930"/>
            <a:ext cx="5406139" cy="1325563"/>
          </a:xfrm>
        </p:spPr>
        <p:txBody>
          <a:bodyPr/>
          <a:lstStyle/>
          <a:p>
            <a:r>
              <a:rPr lang="en-US" noProof="0" dirty="0">
                <a:solidFill>
                  <a:srgbClr val="0070C0"/>
                </a:solidFill>
              </a:rPr>
              <a:t>Safety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69656-1F1A-1345-AE49-74BCB2878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10</a:t>
            </a:fld>
            <a:endParaRPr lang="en-US" noProof="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F99966D-1AC7-3350-959B-BCD5030C84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0398"/>
            <a:ext cx="12192000" cy="4662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3161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A787C-CE3B-F543-10D1-B149E689E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476" y="578485"/>
            <a:ext cx="5698524" cy="975995"/>
          </a:xfrm>
        </p:spPr>
        <p:txBody>
          <a:bodyPr/>
          <a:lstStyle/>
          <a:p>
            <a:r>
              <a:rPr lang="en-US" noProof="0" dirty="0">
                <a:solidFill>
                  <a:srgbClr val="0070C0"/>
                </a:solidFill>
              </a:rPr>
              <a:t>Communication Failure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3A360-2493-45E6-3690-976934AEA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11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DDC74D2-CA9F-BC0E-7211-36E5724E7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60139"/>
            <a:ext cx="12192000" cy="3137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39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5F5E0-DB83-A5D3-D94B-E646B21EE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F2CECD-BB2B-DFAA-9444-19C8BF959E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899" y="145930"/>
            <a:ext cx="5406139" cy="1325563"/>
          </a:xfrm>
        </p:spPr>
        <p:txBody>
          <a:bodyPr/>
          <a:lstStyle/>
          <a:p>
            <a:r>
              <a:rPr lang="en-US" noProof="0" dirty="0">
                <a:solidFill>
                  <a:srgbClr val="0070C0"/>
                </a:solidFill>
              </a:rPr>
              <a:t>SVM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4AD75F-9D9D-C3C9-C239-1A78D7D2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12</a:t>
            </a:fld>
            <a:endParaRPr lang="en-US" noProof="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1A938C-BACD-EB08-9FD8-9979A820D4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6"/>
          <a:stretch>
            <a:fillRect/>
          </a:stretch>
        </p:blipFill>
        <p:spPr>
          <a:xfrm>
            <a:off x="2296192" y="808711"/>
            <a:ext cx="8502140" cy="4880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2433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B859F-8005-44D1-0AAF-88186F0B8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498" y="99887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noProof="0" dirty="0">
                <a:solidFill>
                  <a:srgbClr val="0070C0"/>
                </a:solidFill>
              </a:rPr>
              <a:t>UPPAAL Simulation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10A64-FC10-57E0-9B9B-78ECEB8BF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13</a:t>
            </a:fld>
            <a:endParaRPr lang="en-US" noProof="0" dirty="0"/>
          </a:p>
        </p:txBody>
      </p:sp>
      <p:pic>
        <p:nvPicPr>
          <p:cNvPr id="7" name="2026-07-07 21-38-33">
            <a:hlinkClick r:id="" action="ppaction://media"/>
            <a:extLst>
              <a:ext uri="{FF2B5EF4-FFF2-40B4-BE49-F238E27FC236}">
                <a16:creationId xmlns:a16="http://schemas.microsoft.com/office/drawing/2014/main" id="{E9CAC778-D907-79BF-F3EB-CA47EBA080EF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-5987" b="5987"/>
          <a:stretch>
            <a:fillRect/>
          </a:stretch>
        </p:blipFill>
        <p:spPr>
          <a:xfrm>
            <a:off x="1819794" y="1023688"/>
            <a:ext cx="8552411" cy="4810623"/>
          </a:xfrm>
        </p:spPr>
      </p:pic>
    </p:spTree>
    <p:extLst>
      <p:ext uri="{BB962C8B-B14F-4D97-AF65-F5344CB8AC3E}">
        <p14:creationId xmlns:p14="http://schemas.microsoft.com/office/powerpoint/2010/main" val="905165705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DC8E73-19A3-530A-828E-4417F75AD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14</a:t>
            </a:fld>
            <a:endParaRPr lang="en-US" noProof="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7E084A7-ADCD-146A-6BD1-3B9A4591B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1400" y="2668972"/>
            <a:ext cx="80891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noProof="0" dirty="0">
                <a:solidFill>
                  <a:srgbClr val="0070C0"/>
                </a:solidFill>
              </a:rPr>
              <a:t>Machine Learning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397758693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912FF8-C54E-434B-4C79-B81866457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15</a:t>
            </a:fld>
            <a:endParaRPr lang="en-US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EFE52B-753B-B7D0-CAAE-F2317819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018" y="381735"/>
            <a:ext cx="9049782" cy="6094529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E384A408-7D11-B046-F6EB-EE25C2075EA1}"/>
              </a:ext>
            </a:extLst>
          </p:cNvPr>
          <p:cNvSpPr txBox="1">
            <a:spLocks/>
          </p:cNvSpPr>
          <p:nvPr/>
        </p:nvSpPr>
        <p:spPr>
          <a:xfrm>
            <a:off x="242114" y="204546"/>
            <a:ext cx="206190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Dataset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0B1E536-20ED-76D4-2031-6AC17B2D8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833" y="2552699"/>
            <a:ext cx="2082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553613"/>
      </p:ext>
    </p:extLst>
  </p:cSld>
  <p:clrMapOvr>
    <a:masterClrMapping/>
  </p:clrMapOvr>
  <p:transition spd="med">
    <p:pull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2845A2-5BA0-FA3C-93CC-8E44CB62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16</a:t>
            </a:fld>
            <a:endParaRPr lang="en-US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CCAF2BE7-FE72-4253-85EE-5CB6BD4743CF}"/>
              </a:ext>
            </a:extLst>
          </p:cNvPr>
          <p:cNvSpPr txBox="1">
            <a:spLocks/>
          </p:cNvSpPr>
          <p:nvPr/>
        </p:nvSpPr>
        <p:spPr>
          <a:xfrm>
            <a:off x="7669037" y="1805228"/>
            <a:ext cx="4085665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noProof="0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45C312-824A-622A-F66F-3165B9144F1D}"/>
              </a:ext>
            </a:extLst>
          </p:cNvPr>
          <p:cNvSpPr txBox="1">
            <a:spLocks/>
          </p:cNvSpPr>
          <p:nvPr/>
        </p:nvSpPr>
        <p:spPr>
          <a:xfrm>
            <a:off x="369898" y="479665"/>
            <a:ext cx="3695348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Best Model Selection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2E2D9B2-B7A4-021C-0095-69BCD9E643D5}"/>
              </a:ext>
            </a:extLst>
          </p:cNvPr>
          <p:cNvGrpSpPr/>
          <p:nvPr/>
        </p:nvGrpSpPr>
        <p:grpSpPr>
          <a:xfrm>
            <a:off x="897816" y="799293"/>
            <a:ext cx="10537483" cy="5445054"/>
            <a:chOff x="897816" y="799293"/>
            <a:chExt cx="10537483" cy="5445054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CC9FD8E0-FB1D-ABA8-5F1A-3336C89CFE78}"/>
                </a:ext>
              </a:extLst>
            </p:cNvPr>
            <p:cNvSpPr txBox="1">
              <a:spLocks/>
            </p:cNvSpPr>
            <p:nvPr/>
          </p:nvSpPr>
          <p:spPr>
            <a:xfrm>
              <a:off x="8750535" y="799293"/>
              <a:ext cx="2684764" cy="1064169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US" sz="2000" b="1" noProof="0" dirty="0"/>
                <a:t>Linear SVM with C parameter search</a:t>
              </a:r>
            </a:p>
          </p:txBody>
        </p:sp>
        <p:sp>
          <p:nvSpPr>
            <p:cNvPr id="11" name="Content Placeholder 2">
              <a:extLst>
                <a:ext uri="{FF2B5EF4-FFF2-40B4-BE49-F238E27FC236}">
                  <a16:creationId xmlns:a16="http://schemas.microsoft.com/office/drawing/2014/main" id="{9F46E761-A374-AFBF-E9F1-1CCD8C1C6E16}"/>
                </a:ext>
              </a:extLst>
            </p:cNvPr>
            <p:cNvSpPr txBox="1">
              <a:spLocks/>
            </p:cNvSpPr>
            <p:nvPr/>
          </p:nvSpPr>
          <p:spPr>
            <a:xfrm>
              <a:off x="897816" y="3529415"/>
              <a:ext cx="2528001" cy="886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noProof="0" dirty="0"/>
                <a:t>Feature scaling to standardize values</a:t>
              </a:r>
            </a:p>
          </p:txBody>
        </p:sp>
        <p:sp>
          <p:nvSpPr>
            <p:cNvPr id="13" name="Content Placeholder 2">
              <a:extLst>
                <a:ext uri="{FF2B5EF4-FFF2-40B4-BE49-F238E27FC236}">
                  <a16:creationId xmlns:a16="http://schemas.microsoft.com/office/drawing/2014/main" id="{DB78C76D-E692-A639-7461-E7D3D856D4E3}"/>
                </a:ext>
              </a:extLst>
            </p:cNvPr>
            <p:cNvSpPr txBox="1">
              <a:spLocks/>
            </p:cNvSpPr>
            <p:nvPr/>
          </p:nvSpPr>
          <p:spPr>
            <a:xfrm>
              <a:off x="8617331" y="3021033"/>
              <a:ext cx="2729737" cy="886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noProof="0" dirty="0"/>
                <a:t>Pipeline to prevent data leakage</a:t>
              </a:r>
            </a:p>
          </p:txBody>
        </p:sp>
        <p:sp>
          <p:nvSpPr>
            <p:cNvPr id="14" name="Content Placeholder 2">
              <a:extLst>
                <a:ext uri="{FF2B5EF4-FFF2-40B4-BE49-F238E27FC236}">
                  <a16:creationId xmlns:a16="http://schemas.microsoft.com/office/drawing/2014/main" id="{63600300-CB38-F760-1AC7-F4BA71EE1FBB}"/>
                </a:ext>
              </a:extLst>
            </p:cNvPr>
            <p:cNvSpPr txBox="1">
              <a:spLocks/>
            </p:cNvSpPr>
            <p:nvPr/>
          </p:nvSpPr>
          <p:spPr>
            <a:xfrm>
              <a:off x="918509" y="2501878"/>
              <a:ext cx="2876461" cy="979876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noProof="0" dirty="0"/>
                <a:t>RBF SVM with C and gamma parameter search</a:t>
              </a:r>
            </a:p>
          </p:txBody>
        </p: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D2B8F10-1E2D-B450-9F26-C31A952FD772}"/>
                </a:ext>
              </a:extLst>
            </p:cNvPr>
            <p:cNvGrpSpPr/>
            <p:nvPr/>
          </p:nvGrpSpPr>
          <p:grpSpPr>
            <a:xfrm>
              <a:off x="3077375" y="799293"/>
              <a:ext cx="5673160" cy="5445054"/>
              <a:chOff x="3077375" y="799293"/>
              <a:chExt cx="5673160" cy="5445054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9DC492C8-CA13-9155-7237-E192FD1833B8}"/>
                  </a:ext>
                </a:extLst>
              </p:cNvPr>
              <p:cNvGrpSpPr/>
              <p:nvPr/>
            </p:nvGrpSpPr>
            <p:grpSpPr>
              <a:xfrm>
                <a:off x="3875850" y="799293"/>
                <a:ext cx="4521182" cy="5445054"/>
                <a:chOff x="3882458" y="480490"/>
                <a:chExt cx="4279799" cy="5185647"/>
              </a:xfrm>
            </p:grpSpPr>
            <p:pic>
              <p:nvPicPr>
                <p:cNvPr id="2" name="Picture 1">
                  <a:extLst>
                    <a:ext uri="{FF2B5EF4-FFF2-40B4-BE49-F238E27FC236}">
                      <a16:creationId xmlns:a16="http://schemas.microsoft.com/office/drawing/2014/main" id="{E405AF79-D933-29D2-5735-5783C46B15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t="44428" b="-1"/>
                <a:stretch>
                  <a:fillRect/>
                </a:stretch>
              </p:blipFill>
              <p:spPr>
                <a:xfrm>
                  <a:off x="3893804" y="2234536"/>
                  <a:ext cx="4268453" cy="3431601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71872F40-EF9F-6385-9A15-FE50F258EA2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b="71390"/>
                <a:stretch>
                  <a:fillRect/>
                </a:stretch>
              </p:blipFill>
              <p:spPr>
                <a:xfrm>
                  <a:off x="3882458" y="480490"/>
                  <a:ext cx="4268453" cy="1766684"/>
                </a:xfrm>
                <a:prstGeom prst="rect">
                  <a:avLst/>
                </a:prstGeom>
              </p:spPr>
            </p:pic>
          </p:grpSp>
          <p:cxnSp>
            <p:nvCxnSpPr>
              <p:cNvPr id="8" name="Straight Arrow Connector 7">
                <a:extLst>
                  <a:ext uri="{FF2B5EF4-FFF2-40B4-BE49-F238E27FC236}">
                    <a16:creationId xmlns:a16="http://schemas.microsoft.com/office/drawing/2014/main" id="{2450242E-3AFB-A8A8-DE3A-02F70C0F23F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282834" y="2050738"/>
                <a:ext cx="1147901" cy="451140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C2C28B4-F2D9-5D99-EA31-D8B739623FF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77375" y="3337733"/>
                <a:ext cx="1139623" cy="415590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8F0591F5-52E3-BB1C-3F2E-B4BA513CB16F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217920" y="3122568"/>
                <a:ext cx="2399411" cy="25900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A98718E7-BEF7-89B5-D9CB-D0B2727114F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41864" y="1083336"/>
                <a:ext cx="1908671" cy="223342"/>
              </a:xfrm>
              <a:prstGeom prst="straightConnector1">
                <a:avLst/>
              </a:prstGeom>
              <a:ln w="508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0123988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C88FAC-3064-0A2F-9790-44CF687413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9E42767-8EDB-B259-E076-4294EC4F3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17</a:t>
            </a:fld>
            <a:endParaRPr lang="en-US" noProof="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EF0DC63-FC48-0B67-21EE-40F5EB5AC693}"/>
              </a:ext>
            </a:extLst>
          </p:cNvPr>
          <p:cNvSpPr txBox="1">
            <a:spLocks/>
          </p:cNvSpPr>
          <p:nvPr/>
        </p:nvSpPr>
        <p:spPr>
          <a:xfrm>
            <a:off x="7669037" y="1805228"/>
            <a:ext cx="4085665" cy="35912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3F17AB5F-D10F-A2F1-DA8F-35050F886E34}"/>
              </a:ext>
            </a:extLst>
          </p:cNvPr>
          <p:cNvSpPr txBox="1">
            <a:spLocks/>
          </p:cNvSpPr>
          <p:nvPr/>
        </p:nvSpPr>
        <p:spPr>
          <a:xfrm>
            <a:off x="323435" y="151960"/>
            <a:ext cx="54061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Best Model Evaluation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DE0274-4030-3E4E-D956-BEE3FA55CB68}"/>
              </a:ext>
            </a:extLst>
          </p:cNvPr>
          <p:cNvGrpSpPr/>
          <p:nvPr/>
        </p:nvGrpSpPr>
        <p:grpSpPr>
          <a:xfrm>
            <a:off x="508012" y="1538528"/>
            <a:ext cx="11175975" cy="4677237"/>
            <a:chOff x="508012" y="1538528"/>
            <a:chExt cx="11175975" cy="4677237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04668898-3341-31F2-F7B4-89701898F040}"/>
                </a:ext>
              </a:extLst>
            </p:cNvPr>
            <p:cNvGrpSpPr/>
            <p:nvPr/>
          </p:nvGrpSpPr>
          <p:grpSpPr>
            <a:xfrm>
              <a:off x="508012" y="1538528"/>
              <a:ext cx="11175975" cy="4677237"/>
              <a:chOff x="426054" y="1262212"/>
              <a:chExt cx="11175975" cy="4677237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33364896-7499-0DC3-15F0-2DDE8C9A51A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2756" t="28718" r="842" b="995"/>
              <a:stretch>
                <a:fillRect/>
              </a:stretch>
            </p:blipFill>
            <p:spPr>
              <a:xfrm>
                <a:off x="5619171" y="1262212"/>
                <a:ext cx="5982858" cy="4677237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A965FD7F-F56E-D841-B2E5-88FBD9069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7298" y="1958169"/>
                <a:ext cx="5410200" cy="876300"/>
              </a:xfrm>
              <a:prstGeom prst="rect">
                <a:avLst/>
              </a:prstGeom>
            </p:spPr>
          </p:pic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F7B0DAAE-81B4-D230-6F02-0ED77A65A14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r="24214" b="73474"/>
              <a:stretch>
                <a:fillRect/>
              </a:stretch>
            </p:blipFill>
            <p:spPr>
              <a:xfrm>
                <a:off x="426054" y="3113955"/>
                <a:ext cx="4847224" cy="1819153"/>
              </a:xfrm>
              <a:prstGeom prst="rect">
                <a:avLst/>
              </a:prstGeom>
            </p:spPr>
          </p:pic>
        </p:grp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71151A8-DB77-0FF8-D060-22B35453A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4986" y="1589304"/>
              <a:ext cx="3403600" cy="533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66979114"/>
      </p:ext>
    </p:extLst>
  </p:cSld>
  <p:clrMapOvr>
    <a:masterClrMapping/>
  </p:clrMapOvr>
  <p:transition spd="med">
    <p:pull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A33B2-714F-2D05-9C29-1B27A04D1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18</a:t>
            </a:fld>
            <a:endParaRPr lang="en-US" noProof="0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040E281-AEA2-E180-FB8D-8AA7060B648F}"/>
              </a:ext>
            </a:extLst>
          </p:cNvPr>
          <p:cNvGrpSpPr/>
          <p:nvPr/>
        </p:nvGrpSpPr>
        <p:grpSpPr>
          <a:xfrm>
            <a:off x="421852" y="1643263"/>
            <a:ext cx="11057855" cy="4355755"/>
            <a:chOff x="421852" y="1643263"/>
            <a:chExt cx="11057855" cy="435575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4E65F9CA-E8D5-889D-C306-3BE486A273F6}"/>
                </a:ext>
              </a:extLst>
            </p:cNvPr>
            <p:cNvGrpSpPr/>
            <p:nvPr/>
          </p:nvGrpSpPr>
          <p:grpSpPr>
            <a:xfrm>
              <a:off x="421852" y="1643263"/>
              <a:ext cx="11057855" cy="4355755"/>
              <a:chOff x="421852" y="1643263"/>
              <a:chExt cx="11057855" cy="4355755"/>
            </a:xfrm>
          </p:grpSpPr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049E8A6B-9F84-E65F-093A-88BF4A6A518A}"/>
                  </a:ext>
                </a:extLst>
              </p:cNvPr>
              <p:cNvGrpSpPr/>
              <p:nvPr/>
            </p:nvGrpSpPr>
            <p:grpSpPr>
              <a:xfrm>
                <a:off x="480831" y="1643263"/>
                <a:ext cx="10998876" cy="4355755"/>
                <a:chOff x="311139" y="1199655"/>
                <a:chExt cx="10998876" cy="4355755"/>
              </a:xfrm>
            </p:grpSpPr>
            <p:sp>
              <p:nvSpPr>
                <p:cNvPr id="19" name="Content Placeholder 2">
                  <a:extLst>
                    <a:ext uri="{FF2B5EF4-FFF2-40B4-BE49-F238E27FC236}">
                      <a16:creationId xmlns:a16="http://schemas.microsoft.com/office/drawing/2014/main" id="{F38EFCC9-A691-2A2D-8C43-B974507CD66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311139" y="1805733"/>
                  <a:ext cx="2684764" cy="88627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sz="2000" b="1" noProof="0" dirty="0"/>
                    <a:t>Trajectory value correctly generated </a:t>
                  </a:r>
                </a:p>
              </p:txBody>
            </p:sp>
            <p:grpSp>
              <p:nvGrpSpPr>
                <p:cNvPr id="30" name="Group 29">
                  <a:extLst>
                    <a:ext uri="{FF2B5EF4-FFF2-40B4-BE49-F238E27FC236}">
                      <a16:creationId xmlns:a16="http://schemas.microsoft.com/office/drawing/2014/main" id="{10D578A3-635C-F21F-37EB-D302BC4B2F4F}"/>
                    </a:ext>
                  </a:extLst>
                </p:cNvPr>
                <p:cNvGrpSpPr/>
                <p:nvPr/>
              </p:nvGrpSpPr>
              <p:grpSpPr>
                <a:xfrm>
                  <a:off x="2397662" y="1199655"/>
                  <a:ext cx="8912353" cy="4355755"/>
                  <a:chOff x="2397662" y="1199655"/>
                  <a:chExt cx="8912353" cy="4355755"/>
                </a:xfrm>
              </p:grpSpPr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23FADBB1-3C3A-3DB6-3986-8BAAEFD405D2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3566451" y="1199655"/>
                    <a:ext cx="7743564" cy="4355755"/>
                  </a:xfrm>
                  <a:prstGeom prst="rect">
                    <a:avLst/>
                  </a:prstGeom>
                </p:spPr>
              </p:pic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E2E16CB8-D696-CA4E-8589-FD376556E3E2}"/>
                      </a:ext>
                    </a:extLst>
                  </p:cNvPr>
                  <p:cNvGrpSpPr/>
                  <p:nvPr/>
                </p:nvGrpSpPr>
                <p:grpSpPr>
                  <a:xfrm>
                    <a:off x="2397662" y="1593943"/>
                    <a:ext cx="5040571" cy="2891845"/>
                    <a:chOff x="2397662" y="1593943"/>
                    <a:chExt cx="5040571" cy="2891845"/>
                  </a:xfrm>
                </p:grpSpPr>
                <p:cxnSp>
                  <p:nvCxnSpPr>
                    <p:cNvPr id="17" name="Straight Arrow Connector 16">
                      <a:extLst>
                        <a:ext uri="{FF2B5EF4-FFF2-40B4-BE49-F238E27FC236}">
                          <a16:creationId xmlns:a16="http://schemas.microsoft.com/office/drawing/2014/main" id="{17CDCC42-60AA-344D-3BB7-72D4E31677D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>
                      <a:off x="3102308" y="2972384"/>
                      <a:ext cx="2876461" cy="87339"/>
                    </a:xfrm>
                    <a:prstGeom prst="straightConnector1">
                      <a:avLst/>
                    </a:prstGeom>
                    <a:ln w="508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0" name="Straight Arrow Connector 19">
                      <a:extLst>
                        <a:ext uri="{FF2B5EF4-FFF2-40B4-BE49-F238E27FC236}">
                          <a16:creationId xmlns:a16="http://schemas.microsoft.com/office/drawing/2014/main" id="{E481AF2D-BF61-E9A7-124B-EBD81F3913A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2397662" y="1593943"/>
                      <a:ext cx="1268554" cy="445863"/>
                    </a:xfrm>
                    <a:prstGeom prst="straightConnector1">
                      <a:avLst/>
                    </a:prstGeom>
                    <a:ln w="508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5" name="Straight Arrow Connector 24">
                      <a:extLst>
                        <a:ext uri="{FF2B5EF4-FFF2-40B4-BE49-F238E27FC236}">
                          <a16:creationId xmlns:a16="http://schemas.microsoft.com/office/drawing/2014/main" id="{D13412B1-CC2F-4F78-1463-59037E08D7E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V="1">
                      <a:off x="3212123" y="3992301"/>
                      <a:ext cx="4226110" cy="493487"/>
                    </a:xfrm>
                    <a:prstGeom prst="straightConnector1">
                      <a:avLst/>
                    </a:prstGeom>
                    <a:ln w="50800">
                      <a:solidFill>
                        <a:srgbClr val="FF0000"/>
                      </a:solidFill>
                      <a:tailEnd type="triangl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</p:grpSp>
          <p:sp>
            <p:nvSpPr>
              <p:cNvPr id="32" name="Content Placeholder 2">
                <a:extLst>
                  <a:ext uri="{FF2B5EF4-FFF2-40B4-BE49-F238E27FC236}">
                    <a16:creationId xmlns:a16="http://schemas.microsoft.com/office/drawing/2014/main" id="{22A5A60F-0255-55F7-B3D7-987B1EB4B83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1852" y="4771601"/>
                <a:ext cx="3314291" cy="886272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sz="2000" b="1" noProof="0" dirty="0"/>
                  <a:t>Lane successfully detected </a:t>
                </a:r>
              </a:p>
            </p:txBody>
          </p:sp>
        </p:grpSp>
        <p:sp>
          <p:nvSpPr>
            <p:cNvPr id="34" name="Content Placeholder 2">
              <a:extLst>
                <a:ext uri="{FF2B5EF4-FFF2-40B4-BE49-F238E27FC236}">
                  <a16:creationId xmlns:a16="http://schemas.microsoft.com/office/drawing/2014/main" id="{6D5C091A-EB83-323F-CFE9-F1CB567F11DC}"/>
                </a:ext>
              </a:extLst>
            </p:cNvPr>
            <p:cNvSpPr txBox="1">
              <a:spLocks/>
            </p:cNvSpPr>
            <p:nvPr/>
          </p:nvSpPr>
          <p:spPr>
            <a:xfrm>
              <a:off x="650570" y="3217427"/>
              <a:ext cx="3314291" cy="88627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000" b="1" noProof="0" dirty="0"/>
                <a:t>Green noise eliminated </a:t>
              </a:r>
            </a:p>
          </p:txBody>
        </p:sp>
      </p:grpSp>
      <p:sp>
        <p:nvSpPr>
          <p:cNvPr id="41" name="Title 1">
            <a:extLst>
              <a:ext uri="{FF2B5EF4-FFF2-40B4-BE49-F238E27FC236}">
                <a16:creationId xmlns:a16="http://schemas.microsoft.com/office/drawing/2014/main" id="{6089DEDE-1244-6751-9F69-AE1FB349E65B}"/>
              </a:ext>
            </a:extLst>
          </p:cNvPr>
          <p:cNvSpPr txBox="1">
            <a:spLocks/>
          </p:cNvSpPr>
          <p:nvPr/>
        </p:nvSpPr>
        <p:spPr>
          <a:xfrm>
            <a:off x="689861" y="235886"/>
            <a:ext cx="540613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2447313211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DC3D6-B933-1D66-CC4A-7CC6997F97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746B31-85A0-2336-D37F-5DD3BB2D1B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37849" y="4093129"/>
            <a:ext cx="5223074" cy="584775"/>
          </a:xfrm>
        </p:spPr>
        <p:txBody>
          <a:bodyPr anchor="ctr">
            <a:noAutofit/>
          </a:bodyPr>
          <a:lstStyle/>
          <a:p>
            <a:pPr marL="0" indent="0">
              <a:buNone/>
            </a:pPr>
            <a:r>
              <a:rPr lang="en-US" sz="1800" noProof="0" dirty="0"/>
              <a:t>UPPAAL was used to check deadlock in system and safety measurements</a:t>
            </a:r>
            <a:r>
              <a:rPr lang="en-US" sz="1800" dirty="0"/>
              <a:t>. </a:t>
            </a:r>
            <a:r>
              <a:rPr lang="en-US" sz="1800" noProof="0" dirty="0"/>
              <a:t> </a:t>
            </a:r>
            <a:endParaRPr lang="en-US" sz="2000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DA01A2-D0A3-1786-B7C0-D4EA596C5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F573B9-05BE-4DAE-AB8B-8A03A702506B}" type="slidenum">
              <a:rPr lang="en-US" noProof="0" smtClean="0"/>
              <a:t>19</a:t>
            </a:fld>
            <a:endParaRPr lang="en-US" noProof="0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DAC9974-7E30-7389-3368-7F66C5CBBC02}"/>
              </a:ext>
            </a:extLst>
          </p:cNvPr>
          <p:cNvSpPr txBox="1">
            <a:spLocks/>
          </p:cNvSpPr>
          <p:nvPr/>
        </p:nvSpPr>
        <p:spPr>
          <a:xfrm>
            <a:off x="6532344" y="598078"/>
            <a:ext cx="4156512" cy="26255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7C45BBB-3BC8-FA0E-E0CC-8A461721B9B0}"/>
              </a:ext>
            </a:extLst>
          </p:cNvPr>
          <p:cNvSpPr txBox="1">
            <a:spLocks/>
          </p:cNvSpPr>
          <p:nvPr/>
        </p:nvSpPr>
        <p:spPr>
          <a:xfrm>
            <a:off x="311943" y="0"/>
            <a:ext cx="767147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>
                <a:solidFill>
                  <a:srgbClr val="0070C0"/>
                </a:solidFill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34554A-36E9-AD99-3998-A1EC60CF8ED3}"/>
              </a:ext>
            </a:extLst>
          </p:cNvPr>
          <p:cNvSpPr txBox="1"/>
          <p:nvPr/>
        </p:nvSpPr>
        <p:spPr>
          <a:xfrm>
            <a:off x="8046111" y="1103702"/>
            <a:ext cx="38721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noProof="0" dirty="0">
                <a:solidFill>
                  <a:srgbClr val="4472C4"/>
                </a:solidFill>
              </a:rPr>
              <a:t>Future improvements</a:t>
            </a:r>
            <a:r>
              <a:rPr lang="en-US" sz="2800" dirty="0">
                <a:solidFill>
                  <a:srgbClr val="4472C4"/>
                </a:solidFill>
              </a:rPr>
              <a:t>:</a:t>
            </a:r>
            <a:endParaRPr lang="en-US" sz="2800" noProof="0" dirty="0">
              <a:solidFill>
                <a:srgbClr val="4472C4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3AF605-EBB1-9A1A-02F8-698F79BA6282}"/>
              </a:ext>
            </a:extLst>
          </p:cNvPr>
          <p:cNvSpPr txBox="1"/>
          <p:nvPr/>
        </p:nvSpPr>
        <p:spPr>
          <a:xfrm>
            <a:off x="7765565" y="2247861"/>
            <a:ext cx="4230028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/>
              <a:t>Add more realistic vehicle dynamics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/>
              <a:t>Add model communication latency.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/>
              <a:t>Test SVM on larger datasets with different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noProof="0" dirty="0"/>
              <a:t>Connect the SVM perception output directly with the platooning controller.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D146639C-2AD4-3307-DFC7-9A6397D54C31}"/>
              </a:ext>
            </a:extLst>
          </p:cNvPr>
          <p:cNvSpPr/>
          <p:nvPr/>
        </p:nvSpPr>
        <p:spPr>
          <a:xfrm>
            <a:off x="45725" y="1910833"/>
            <a:ext cx="1851949" cy="71763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SVM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52B12C1F-AD68-4A89-6F1B-E2B2DE48CE50}"/>
              </a:ext>
            </a:extLst>
          </p:cNvPr>
          <p:cNvSpPr/>
          <p:nvPr/>
        </p:nvSpPr>
        <p:spPr>
          <a:xfrm>
            <a:off x="45725" y="2974752"/>
            <a:ext cx="1851949" cy="71763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Scenarios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8DF9EC1-74B9-96D7-8A55-76FC0068C167}"/>
              </a:ext>
            </a:extLst>
          </p:cNvPr>
          <p:cNvSpPr/>
          <p:nvPr/>
        </p:nvSpPr>
        <p:spPr>
          <a:xfrm>
            <a:off x="45725" y="4032714"/>
            <a:ext cx="1851949" cy="717631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UPPAL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F68C7B-A443-6D5E-54A2-6CB29E88D246}"/>
              </a:ext>
            </a:extLst>
          </p:cNvPr>
          <p:cNvSpPr txBox="1"/>
          <p:nvPr/>
        </p:nvSpPr>
        <p:spPr>
          <a:xfrm>
            <a:off x="2137848" y="3015264"/>
            <a:ext cx="5223075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noProof="0" dirty="0"/>
              <a:t>The truck platooning part defined scenarios, requirements, timing assumptions.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4B9432-0684-E83F-DBDF-ECDB7C7CDE29}"/>
              </a:ext>
            </a:extLst>
          </p:cNvPr>
          <p:cNvSpPr txBox="1"/>
          <p:nvPr/>
        </p:nvSpPr>
        <p:spPr>
          <a:xfrm>
            <a:off x="2137849" y="1910833"/>
            <a:ext cx="5223076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noProof="0" dirty="0"/>
              <a:t>The SVM task classified CARLA line-following frames into LEFT, STRAIGHT, and RIGHT with high test performance.</a:t>
            </a:r>
          </a:p>
        </p:txBody>
      </p: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FC1E7154-1583-4BE2-6675-FC6D85B85C27}"/>
              </a:ext>
            </a:extLst>
          </p:cNvPr>
          <p:cNvCxnSpPr>
            <a:cxnSpLocks/>
          </p:cNvCxnSpPr>
          <p:nvPr/>
        </p:nvCxnSpPr>
        <p:spPr>
          <a:xfrm flipV="1">
            <a:off x="7477246" y="1809754"/>
            <a:ext cx="0" cy="33062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единительная линия 22">
            <a:extLst>
              <a:ext uri="{FF2B5EF4-FFF2-40B4-BE49-F238E27FC236}">
                <a16:creationId xmlns:a16="http://schemas.microsoft.com/office/drawing/2014/main" id="{68B10280-D827-8D99-F7FA-48D2645A934D}"/>
              </a:ext>
            </a:extLst>
          </p:cNvPr>
          <p:cNvCxnSpPr>
            <a:cxnSpLocks/>
          </p:cNvCxnSpPr>
          <p:nvPr/>
        </p:nvCxnSpPr>
        <p:spPr>
          <a:xfrm>
            <a:off x="0" y="5116010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C8C600C-1C63-3A3B-D646-F22A8C5BF4DC}"/>
              </a:ext>
            </a:extLst>
          </p:cNvPr>
          <p:cNvCxnSpPr>
            <a:cxnSpLocks/>
          </p:cNvCxnSpPr>
          <p:nvPr/>
        </p:nvCxnSpPr>
        <p:spPr>
          <a:xfrm>
            <a:off x="0" y="1809754"/>
            <a:ext cx="12192000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620515"/>
      </p:ext>
    </p:extLst>
  </p:cSld>
  <p:clrMapOvr>
    <a:masterClrMapping/>
  </p:clrMapOvr>
  <p:transition spd="slow">
    <p:cover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1151</TotalTime>
  <Words>229</Words>
  <Application>Microsoft Macintosh PowerPoint</Application>
  <PresentationFormat>Widescreen</PresentationFormat>
  <Paragraphs>91</Paragraphs>
  <Slides>19</Slides>
  <Notes>18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Calibri Light</vt:lpstr>
      <vt:lpstr>Office Theme</vt:lpstr>
      <vt:lpstr>Truck Platooning</vt:lpstr>
      <vt:lpstr>Motivation</vt:lpstr>
      <vt:lpstr>Scenarios</vt:lpstr>
      <vt:lpstr>Functional Requirements</vt:lpstr>
      <vt:lpstr>PowerPoint Presentation</vt:lpstr>
      <vt:lpstr>PowerPoint Presentation</vt:lpstr>
      <vt:lpstr>PowerPoint Presentation</vt:lpstr>
      <vt:lpstr>PowerPoint Presentation</vt:lpstr>
      <vt:lpstr>Platooning</vt:lpstr>
      <vt:lpstr>Safety Model</vt:lpstr>
      <vt:lpstr>Communication Failure</vt:lpstr>
      <vt:lpstr>SVM</vt:lpstr>
      <vt:lpstr>UPPAAL Simulation</vt:lpstr>
      <vt:lpstr>Machine Learning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ShihabUd Doula</dc:creator>
  <cp:lastModifiedBy>Daria</cp:lastModifiedBy>
  <cp:revision>24</cp:revision>
  <dcterms:created xsi:type="dcterms:W3CDTF">2024-07-04T00:44:38Z</dcterms:created>
  <dcterms:modified xsi:type="dcterms:W3CDTF">2026-07-08T22:20:28Z</dcterms:modified>
</cp:coreProperties>
</file>